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6" r:id="rId5"/>
    <p:sldId id="259" r:id="rId6"/>
    <p:sldId id="260" r:id="rId7"/>
    <p:sldId id="261" r:id="rId8"/>
    <p:sldId id="262" r:id="rId9"/>
    <p:sldId id="264" r:id="rId10"/>
    <p:sldId id="267" r:id="rId11"/>
    <p:sldId id="265" r:id="rId12"/>
    <p:sldId id="263"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2" d="100"/>
          <a:sy n="72" d="100"/>
        </p:scale>
        <p:origin x="66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C380390C-67B0-439E-9E73-D2ADC7209C01}" type="datetimeFigureOut">
              <a:rPr lang="en-US" smtClean="0"/>
              <a:t>11/11/2024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234CA8-7131-414D-9839-D9515EE1EB2B}" type="slidenum">
              <a:rPr lang="en-US" smtClean="0"/>
              <a:t>‹#›</a:t>
            </a:fld>
            <a:endParaRPr lang="en-US"/>
          </a:p>
        </p:txBody>
      </p:sp>
    </p:spTree>
    <p:extLst>
      <p:ext uri="{BB962C8B-B14F-4D97-AF65-F5344CB8AC3E}">
        <p14:creationId xmlns:p14="http://schemas.microsoft.com/office/powerpoint/2010/main" val="18520866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380390C-67B0-439E-9E73-D2ADC7209C01}" type="datetimeFigureOut">
              <a:rPr lang="en-US" smtClean="0"/>
              <a:t>11/11/2024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234CA8-7131-414D-9839-D9515EE1EB2B}" type="slidenum">
              <a:rPr lang="en-US" smtClean="0"/>
              <a:t>‹#›</a:t>
            </a:fld>
            <a:endParaRPr lang="en-US"/>
          </a:p>
        </p:txBody>
      </p:sp>
    </p:spTree>
    <p:extLst>
      <p:ext uri="{BB962C8B-B14F-4D97-AF65-F5344CB8AC3E}">
        <p14:creationId xmlns:p14="http://schemas.microsoft.com/office/powerpoint/2010/main" val="8723965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380390C-67B0-439E-9E73-D2ADC7209C01}" type="datetimeFigureOut">
              <a:rPr lang="en-US" smtClean="0"/>
              <a:t>11/11/2024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234CA8-7131-414D-9839-D9515EE1EB2B}" type="slidenum">
              <a:rPr lang="en-US" smtClean="0"/>
              <a:t>‹#›</a:t>
            </a:fld>
            <a:endParaRPr lang="en-US"/>
          </a:p>
        </p:txBody>
      </p:sp>
    </p:spTree>
    <p:extLst>
      <p:ext uri="{BB962C8B-B14F-4D97-AF65-F5344CB8AC3E}">
        <p14:creationId xmlns:p14="http://schemas.microsoft.com/office/powerpoint/2010/main" val="31811793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380390C-67B0-439E-9E73-D2ADC7209C01}" type="datetimeFigureOut">
              <a:rPr lang="en-US" smtClean="0"/>
              <a:t>11/11/2024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4234CA8-7131-414D-9839-D9515EE1EB2B}" type="slidenum">
              <a:rPr lang="en-US" smtClean="0"/>
              <a:t>‹#›</a:t>
            </a:fld>
            <a:endParaRPr lang="en-US"/>
          </a:p>
        </p:txBody>
      </p:sp>
    </p:spTree>
    <p:extLst>
      <p:ext uri="{BB962C8B-B14F-4D97-AF65-F5344CB8AC3E}">
        <p14:creationId xmlns:p14="http://schemas.microsoft.com/office/powerpoint/2010/main" val="23343904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380390C-67B0-439E-9E73-D2ADC7209C01}" type="datetimeFigureOut">
              <a:rPr lang="en-US" smtClean="0"/>
              <a:t>11/11/2024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4234CA8-7131-414D-9839-D9515EE1EB2B}" type="slidenum">
              <a:rPr lang="en-US" smtClean="0"/>
              <a:t>‹#›</a:t>
            </a:fld>
            <a:endParaRPr lang="en-US"/>
          </a:p>
        </p:txBody>
      </p:sp>
    </p:spTree>
    <p:extLst>
      <p:ext uri="{BB962C8B-B14F-4D97-AF65-F5344CB8AC3E}">
        <p14:creationId xmlns:p14="http://schemas.microsoft.com/office/powerpoint/2010/main" val="1136910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380390C-67B0-439E-9E73-D2ADC7209C01}" type="datetimeFigureOut">
              <a:rPr lang="en-US" smtClean="0"/>
              <a:t>11/11/2024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4234CA8-7131-414D-9839-D9515EE1EB2B}" type="slidenum">
              <a:rPr lang="en-US" smtClean="0"/>
              <a:t>‹#›</a:t>
            </a:fld>
            <a:endParaRPr lang="en-US"/>
          </a:p>
        </p:txBody>
      </p:sp>
    </p:spTree>
    <p:extLst>
      <p:ext uri="{BB962C8B-B14F-4D97-AF65-F5344CB8AC3E}">
        <p14:creationId xmlns:p14="http://schemas.microsoft.com/office/powerpoint/2010/main" val="1398928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380390C-67B0-439E-9E73-D2ADC7209C01}" type="datetimeFigureOut">
              <a:rPr lang="en-US" smtClean="0"/>
              <a:t>11/11/2024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4234CA8-7131-414D-9839-D9515EE1EB2B}" type="slidenum">
              <a:rPr lang="en-US" smtClean="0"/>
              <a:t>‹#›</a:t>
            </a:fld>
            <a:endParaRPr lang="en-US"/>
          </a:p>
        </p:txBody>
      </p:sp>
    </p:spTree>
    <p:extLst>
      <p:ext uri="{BB962C8B-B14F-4D97-AF65-F5344CB8AC3E}">
        <p14:creationId xmlns:p14="http://schemas.microsoft.com/office/powerpoint/2010/main" val="1865193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380390C-67B0-439E-9E73-D2ADC7209C01}" type="datetimeFigureOut">
              <a:rPr lang="en-US" smtClean="0"/>
              <a:t>11/11/2024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4234CA8-7131-414D-9839-D9515EE1EB2B}" type="slidenum">
              <a:rPr lang="en-US" smtClean="0"/>
              <a:t>‹#›</a:t>
            </a:fld>
            <a:endParaRPr lang="en-US"/>
          </a:p>
        </p:txBody>
      </p:sp>
    </p:spTree>
    <p:extLst>
      <p:ext uri="{BB962C8B-B14F-4D97-AF65-F5344CB8AC3E}">
        <p14:creationId xmlns:p14="http://schemas.microsoft.com/office/powerpoint/2010/main" val="11606917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380390C-67B0-439E-9E73-D2ADC7209C01}" type="datetimeFigureOut">
              <a:rPr lang="en-US" smtClean="0"/>
              <a:t>11/11/2024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4234CA8-7131-414D-9839-D9515EE1EB2B}" type="slidenum">
              <a:rPr lang="en-US" smtClean="0"/>
              <a:t>‹#›</a:t>
            </a:fld>
            <a:endParaRPr lang="en-US"/>
          </a:p>
        </p:txBody>
      </p:sp>
    </p:spTree>
    <p:extLst>
      <p:ext uri="{BB962C8B-B14F-4D97-AF65-F5344CB8AC3E}">
        <p14:creationId xmlns:p14="http://schemas.microsoft.com/office/powerpoint/2010/main" val="13466894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380390C-67B0-439E-9E73-D2ADC7209C01}" type="datetimeFigureOut">
              <a:rPr lang="en-US" smtClean="0"/>
              <a:t>11/11/2024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234CA8-7131-414D-9839-D9515EE1EB2B}" type="slidenum">
              <a:rPr lang="en-US" smtClean="0"/>
              <a:t>‹#›</a:t>
            </a:fld>
            <a:endParaRPr lang="en-US"/>
          </a:p>
        </p:txBody>
      </p:sp>
    </p:spTree>
    <p:extLst>
      <p:ext uri="{BB962C8B-B14F-4D97-AF65-F5344CB8AC3E}">
        <p14:creationId xmlns:p14="http://schemas.microsoft.com/office/powerpoint/2010/main" val="20347712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380390C-67B0-439E-9E73-D2ADC7209C01}" type="datetimeFigureOut">
              <a:rPr lang="en-US" smtClean="0"/>
              <a:t>11/11/2024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234CA8-7131-414D-9839-D9515EE1EB2B}" type="slidenum">
              <a:rPr lang="en-US" smtClean="0"/>
              <a:t>‹#›</a:t>
            </a:fld>
            <a:endParaRPr lang="en-US"/>
          </a:p>
        </p:txBody>
      </p:sp>
    </p:spTree>
    <p:extLst>
      <p:ext uri="{BB962C8B-B14F-4D97-AF65-F5344CB8AC3E}">
        <p14:creationId xmlns:p14="http://schemas.microsoft.com/office/powerpoint/2010/main" val="18909145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380390C-67B0-439E-9E73-D2ADC7209C01}" type="datetimeFigureOut">
              <a:rPr lang="en-US" smtClean="0"/>
              <a:t>11/11/2024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4234CA8-7131-414D-9839-D9515EE1EB2B}" type="slidenum">
              <a:rPr lang="en-US" smtClean="0"/>
              <a:t>‹#›</a:t>
            </a:fld>
            <a:endParaRPr lang="en-US"/>
          </a:p>
        </p:txBody>
      </p:sp>
    </p:spTree>
    <p:extLst>
      <p:ext uri="{BB962C8B-B14F-4D97-AF65-F5344CB8AC3E}">
        <p14:creationId xmlns:p14="http://schemas.microsoft.com/office/powerpoint/2010/main" val="40590584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Chapter - 5</a:t>
            </a:r>
          </a:p>
        </p:txBody>
      </p:sp>
      <p:sp>
        <p:nvSpPr>
          <p:cNvPr id="3" name="Subtitle 2"/>
          <p:cNvSpPr>
            <a:spLocks noGrp="1"/>
          </p:cNvSpPr>
          <p:nvPr>
            <p:ph type="subTitle" idx="1"/>
          </p:nvPr>
        </p:nvSpPr>
        <p:spPr/>
        <p:txBody>
          <a:bodyPr/>
          <a:lstStyle/>
          <a:p>
            <a:r>
              <a:rPr lang="en-US" dirty="0"/>
              <a:t>Cloud simulation</a:t>
            </a:r>
          </a:p>
        </p:txBody>
      </p:sp>
    </p:spTree>
    <p:extLst>
      <p:ext uri="{BB962C8B-B14F-4D97-AF65-F5344CB8AC3E}">
        <p14:creationId xmlns:p14="http://schemas.microsoft.com/office/powerpoint/2010/main" val="13399049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6184"/>
            <a:ext cx="10515600" cy="871247"/>
          </a:xfrm>
        </p:spPr>
        <p:txBody>
          <a:bodyPr/>
          <a:lstStyle/>
          <a:p>
            <a:r>
              <a:rPr lang="en-US" dirty="0"/>
              <a:t>Introduction</a:t>
            </a:r>
          </a:p>
        </p:txBody>
      </p:sp>
      <p:sp>
        <p:nvSpPr>
          <p:cNvPr id="3" name="Content Placeholder 2"/>
          <p:cNvSpPr>
            <a:spLocks noGrp="1"/>
          </p:cNvSpPr>
          <p:nvPr>
            <p:ph idx="1"/>
          </p:nvPr>
        </p:nvSpPr>
        <p:spPr>
          <a:xfrm>
            <a:off x="656823" y="1017431"/>
            <a:ext cx="10696977" cy="5159532"/>
          </a:xfrm>
        </p:spPr>
        <p:txBody>
          <a:bodyPr>
            <a:normAutofit/>
          </a:bodyPr>
          <a:lstStyle/>
          <a:p>
            <a:pPr algn="just"/>
            <a:r>
              <a:rPr lang="en-GB" dirty="0"/>
              <a:t>Cloud computing has advanced incredibly in the ongoing years because of its characteristics of being </a:t>
            </a:r>
            <a:r>
              <a:rPr lang="en-GB" b="1" dirty="0">
                <a:solidFill>
                  <a:srgbClr val="FF0000"/>
                </a:solidFill>
              </a:rPr>
              <a:t>secure</a:t>
            </a:r>
            <a:r>
              <a:rPr lang="en-GB" dirty="0"/>
              <a:t>, and </a:t>
            </a:r>
            <a:r>
              <a:rPr lang="en-GB" b="1" dirty="0">
                <a:solidFill>
                  <a:srgbClr val="FF0000"/>
                </a:solidFill>
              </a:rPr>
              <a:t>highly scalable</a:t>
            </a:r>
            <a:r>
              <a:rPr lang="en-GB" dirty="0"/>
              <a:t>.</a:t>
            </a:r>
          </a:p>
          <a:p>
            <a:pPr algn="just"/>
            <a:r>
              <a:rPr lang="en-GB" dirty="0"/>
              <a:t>We can say that it is able to dynamically deliver IT assets over the Internet for user applications that have different </a:t>
            </a:r>
            <a:r>
              <a:rPr lang="en-GB" b="1" dirty="0"/>
              <a:t>composition</a:t>
            </a:r>
            <a:r>
              <a:rPr lang="en-GB" dirty="0"/>
              <a:t>, </a:t>
            </a:r>
            <a:r>
              <a:rPr lang="en-GB" b="1" dirty="0"/>
              <a:t>configuration</a:t>
            </a:r>
            <a:r>
              <a:rPr lang="en-GB" dirty="0"/>
              <a:t>, and </a:t>
            </a:r>
            <a:r>
              <a:rPr lang="en-GB" b="1" dirty="0"/>
              <a:t>deployment</a:t>
            </a:r>
            <a:r>
              <a:rPr lang="en-GB" dirty="0"/>
              <a:t> requirements. </a:t>
            </a:r>
          </a:p>
          <a:p>
            <a:pPr algn="just"/>
            <a:r>
              <a:rPr lang="en-GB" dirty="0"/>
              <a:t>In cloud computing, access to the infrastructure incurs payments in real currency. </a:t>
            </a:r>
          </a:p>
          <a:p>
            <a:pPr algn="just"/>
            <a:r>
              <a:rPr lang="en-GB" dirty="0"/>
              <a:t>Simulation-based approaches offer significant benefits, as it allows cloud customers to </a:t>
            </a:r>
            <a:r>
              <a:rPr lang="en-GB" b="1" dirty="0"/>
              <a:t>test their services </a:t>
            </a:r>
            <a:r>
              <a:rPr lang="en-GB" dirty="0"/>
              <a:t>in repeatable and controllable environment free of cost, and to tune the performance bottlenecks before deploying on real clouds. </a:t>
            </a:r>
          </a:p>
          <a:p>
            <a:pPr algn="just"/>
            <a:endParaRPr lang="en-US" dirty="0"/>
          </a:p>
        </p:txBody>
      </p:sp>
    </p:spTree>
    <p:extLst>
      <p:ext uri="{BB962C8B-B14F-4D97-AF65-F5344CB8AC3E}">
        <p14:creationId xmlns:p14="http://schemas.microsoft.com/office/powerpoint/2010/main" val="1012907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70456" y="257578"/>
            <a:ext cx="11539471" cy="6400800"/>
          </a:xfrm>
        </p:spPr>
        <p:txBody>
          <a:bodyPr>
            <a:normAutofit fontScale="92500"/>
          </a:bodyPr>
          <a:lstStyle/>
          <a:p>
            <a:pPr algn="just"/>
            <a:r>
              <a:rPr lang="en-GB" dirty="0"/>
              <a:t>At the provider side, simulation environments allow </a:t>
            </a:r>
            <a:r>
              <a:rPr lang="en-GB" b="1" dirty="0"/>
              <a:t>evaluation of different kinds of resource leasing scenarios</a:t>
            </a:r>
            <a:r>
              <a:rPr lang="en-GB" dirty="0"/>
              <a:t> under varying </a:t>
            </a:r>
            <a:r>
              <a:rPr lang="en-GB" b="1" dirty="0"/>
              <a:t>load</a:t>
            </a:r>
            <a:r>
              <a:rPr lang="en-GB" dirty="0"/>
              <a:t> and </a:t>
            </a:r>
            <a:r>
              <a:rPr lang="en-GB" b="1" dirty="0"/>
              <a:t>pricing</a:t>
            </a:r>
            <a:r>
              <a:rPr lang="en-GB" dirty="0"/>
              <a:t> distributions. </a:t>
            </a:r>
          </a:p>
          <a:p>
            <a:pPr algn="just"/>
            <a:r>
              <a:rPr lang="en-GB" dirty="0"/>
              <a:t>Such studies could aid the providers in </a:t>
            </a:r>
            <a:r>
              <a:rPr lang="en-GB" b="1" dirty="0"/>
              <a:t>optimizing the resource access cost </a:t>
            </a:r>
            <a:r>
              <a:rPr lang="en-GB" dirty="0"/>
              <a:t>with a focus on improving </a:t>
            </a:r>
            <a:r>
              <a:rPr lang="en-GB" b="1" dirty="0"/>
              <a:t>profits</a:t>
            </a:r>
            <a:r>
              <a:rPr lang="en-GB" dirty="0"/>
              <a:t>. </a:t>
            </a:r>
          </a:p>
          <a:p>
            <a:pPr algn="just"/>
            <a:r>
              <a:rPr lang="en-GB" dirty="0"/>
              <a:t>In the absence of such simulation platforms, Cloud customers and providers have to rely either on </a:t>
            </a:r>
            <a:r>
              <a:rPr lang="en-GB" b="1" dirty="0"/>
              <a:t>theoretical</a:t>
            </a:r>
            <a:r>
              <a:rPr lang="en-GB" dirty="0"/>
              <a:t> and </a:t>
            </a:r>
            <a:r>
              <a:rPr lang="en-GB" b="1" dirty="0"/>
              <a:t>imprecise evaluations</a:t>
            </a:r>
            <a:r>
              <a:rPr lang="en-GB" dirty="0"/>
              <a:t>, or on </a:t>
            </a:r>
            <a:r>
              <a:rPr lang="en-GB" b="1" dirty="0"/>
              <a:t>trial-and-error</a:t>
            </a:r>
            <a:r>
              <a:rPr lang="en-GB" dirty="0"/>
              <a:t> approaches that lead to inefficient service performance and revenue generation. </a:t>
            </a:r>
          </a:p>
          <a:p>
            <a:pPr algn="just"/>
            <a:r>
              <a:rPr lang="en-GB" dirty="0"/>
              <a:t>The primary objective of this simulator is to provide a generalized and extensible simulation framework that enables seamless modelling, simulation, and experimentation of emerging cloud computing infrastructures and application services. </a:t>
            </a:r>
          </a:p>
          <a:p>
            <a:pPr algn="just"/>
            <a:r>
              <a:rPr lang="en-GB" dirty="0"/>
              <a:t>By using </a:t>
            </a:r>
            <a:r>
              <a:rPr lang="en-GB" b="1" dirty="0">
                <a:solidFill>
                  <a:srgbClr val="FF0000"/>
                </a:solidFill>
              </a:rPr>
              <a:t>CloudSim</a:t>
            </a:r>
            <a:r>
              <a:rPr lang="en-GB" dirty="0"/>
              <a:t>, researchers and industry-based developers can focus on specific system design issues that they want to investigate, without being concerned about the low-level details related to cloud-based infrastructures and services.</a:t>
            </a:r>
            <a:endParaRPr lang="en-US" dirty="0"/>
          </a:p>
        </p:txBody>
      </p:sp>
    </p:spTree>
    <p:extLst>
      <p:ext uri="{BB962C8B-B14F-4D97-AF65-F5344CB8AC3E}">
        <p14:creationId xmlns:p14="http://schemas.microsoft.com/office/powerpoint/2010/main" val="237065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1668" y="154546"/>
            <a:ext cx="11887200" cy="6542468"/>
          </a:xfrm>
        </p:spPr>
        <p:txBody>
          <a:bodyPr>
            <a:normAutofit/>
          </a:bodyPr>
          <a:lstStyle/>
          <a:p>
            <a:pPr algn="just"/>
            <a:r>
              <a:rPr lang="en-GB" dirty="0"/>
              <a:t>CloudSim is an open-source framework, which is used to simulate cloud computing infrastructure and services. </a:t>
            </a:r>
          </a:p>
          <a:p>
            <a:pPr algn="just"/>
            <a:r>
              <a:rPr lang="en-GB" dirty="0"/>
              <a:t>It is developed by the </a:t>
            </a:r>
            <a:r>
              <a:rPr lang="en-GB" b="1" dirty="0">
                <a:solidFill>
                  <a:srgbClr val="FF0000"/>
                </a:solidFill>
              </a:rPr>
              <a:t>CLOUDS Lab organization </a:t>
            </a:r>
            <a:r>
              <a:rPr lang="en-GB" dirty="0"/>
              <a:t>and is written entirely in </a:t>
            </a:r>
            <a:r>
              <a:rPr lang="en-GB" b="1" dirty="0">
                <a:solidFill>
                  <a:srgbClr val="FF0000"/>
                </a:solidFill>
              </a:rPr>
              <a:t>Java</a:t>
            </a:r>
            <a:r>
              <a:rPr lang="en-GB" dirty="0"/>
              <a:t>. </a:t>
            </a:r>
          </a:p>
          <a:p>
            <a:pPr algn="just"/>
            <a:r>
              <a:rPr lang="en-GB" dirty="0"/>
              <a:t>It is used for </a:t>
            </a:r>
            <a:r>
              <a:rPr lang="en-GB" b="1" dirty="0"/>
              <a:t>modelling</a:t>
            </a:r>
            <a:r>
              <a:rPr lang="en-GB" dirty="0"/>
              <a:t> and </a:t>
            </a:r>
            <a:r>
              <a:rPr lang="en-GB" b="1" dirty="0"/>
              <a:t>simulating</a:t>
            </a:r>
            <a:r>
              <a:rPr lang="en-GB" dirty="0"/>
              <a:t> a cloud computing environment as a means for </a:t>
            </a:r>
            <a:r>
              <a:rPr lang="en-GB" b="1" dirty="0"/>
              <a:t>evaluating a hypothesis </a:t>
            </a:r>
            <a:r>
              <a:rPr lang="en-GB" dirty="0"/>
              <a:t>prior to software development in order to reproduce tests and results.</a:t>
            </a:r>
          </a:p>
          <a:p>
            <a:pPr lvl="1" algn="just"/>
            <a:r>
              <a:rPr lang="en-GB" dirty="0"/>
              <a:t>For example, if you were to deploy an application or a website on the cloud and wanted to test the services and load that your product can handle and also tune its performance to overcome bottlenecks before risking deployment, then such evaluations could be performed by simply coding a simulation of that environment with the help of various flexible and scalable classes provided by the CloudSim package, free of cost. </a:t>
            </a:r>
            <a:endParaRPr lang="en-US" dirty="0"/>
          </a:p>
        </p:txBody>
      </p:sp>
    </p:spTree>
    <p:extLst>
      <p:ext uri="{BB962C8B-B14F-4D97-AF65-F5344CB8AC3E}">
        <p14:creationId xmlns:p14="http://schemas.microsoft.com/office/powerpoint/2010/main" val="30664535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8789" y="141668"/>
            <a:ext cx="11925836" cy="6606862"/>
          </a:xfrm>
        </p:spPr>
        <p:txBody>
          <a:bodyPr>
            <a:normAutofit lnSpcReduction="10000"/>
          </a:bodyPr>
          <a:lstStyle/>
          <a:p>
            <a:pPr algn="just"/>
            <a:r>
              <a:rPr lang="en-GB" dirty="0"/>
              <a:t>CloudSim is a practical approach to implement and test Cloud scenarios. </a:t>
            </a:r>
          </a:p>
          <a:p>
            <a:pPr algn="just"/>
            <a:r>
              <a:rPr lang="en-GB" dirty="0"/>
              <a:t>It is new generalized and extensible simulation framework that enables seamless </a:t>
            </a:r>
            <a:r>
              <a:rPr lang="en-GB" b="1" dirty="0"/>
              <a:t>modelling</a:t>
            </a:r>
            <a:r>
              <a:rPr lang="en-GB" dirty="0"/>
              <a:t>, </a:t>
            </a:r>
            <a:r>
              <a:rPr lang="en-GB" b="1" dirty="0"/>
              <a:t>simulation</a:t>
            </a:r>
            <a:r>
              <a:rPr lang="en-GB" dirty="0"/>
              <a:t>, and </a:t>
            </a:r>
            <a:r>
              <a:rPr lang="en-GB" b="1" dirty="0"/>
              <a:t>experimentation</a:t>
            </a:r>
            <a:r>
              <a:rPr lang="en-GB" dirty="0"/>
              <a:t> of emerging cloud computing infrastructures and management services. </a:t>
            </a:r>
          </a:p>
          <a:p>
            <a:pPr algn="just"/>
            <a:r>
              <a:rPr lang="en-GB" dirty="0"/>
              <a:t>The CloudSim simulation layer offers help for </a:t>
            </a:r>
            <a:r>
              <a:rPr lang="en-GB" b="1" dirty="0"/>
              <a:t>demonstrating</a:t>
            </a:r>
            <a:r>
              <a:rPr lang="en-GB" dirty="0"/>
              <a:t> and </a:t>
            </a:r>
            <a:r>
              <a:rPr lang="en-GB" b="1" dirty="0"/>
              <a:t>simulation</a:t>
            </a:r>
            <a:r>
              <a:rPr lang="en-GB" dirty="0"/>
              <a:t> of virtualized Cloud-based server data centre conditions including committed administration interfaces for VMs, memory, storage, and data transmission. </a:t>
            </a:r>
          </a:p>
          <a:p>
            <a:pPr algn="just"/>
            <a:r>
              <a:rPr lang="en-GB" dirty="0"/>
              <a:t>The central issues, for example, provisioning of </a:t>
            </a:r>
            <a:r>
              <a:rPr lang="en-GB" b="1" dirty="0"/>
              <a:t>hosts to VMs</a:t>
            </a:r>
            <a:r>
              <a:rPr lang="en-GB" dirty="0"/>
              <a:t>, and managing </a:t>
            </a:r>
            <a:r>
              <a:rPr lang="en-GB" b="1" dirty="0"/>
              <a:t>application execution state </a:t>
            </a:r>
            <a:r>
              <a:rPr lang="en-GB" dirty="0"/>
              <a:t>are dealt with.</a:t>
            </a:r>
          </a:p>
          <a:p>
            <a:pPr algn="just"/>
            <a:r>
              <a:rPr lang="en-GB" dirty="0"/>
              <a:t>The data centre deals with various host elements. </a:t>
            </a:r>
          </a:p>
          <a:p>
            <a:pPr algn="just"/>
            <a:r>
              <a:rPr lang="en-GB" dirty="0"/>
              <a:t>The hosts are mapped out to at least one VMs dependent on a VM allotment strategy that ought to be characterized by the Cloud specialist organization. </a:t>
            </a:r>
          </a:p>
          <a:p>
            <a:pPr lvl="1" algn="just"/>
            <a:r>
              <a:rPr lang="en-GB" dirty="0"/>
              <a:t>Here, the VM strategy represents the tasks control arrangements identified with VM life cycle, for example, provisioning of a host to a VM, VM creation, VM failure and VM migration. </a:t>
            </a:r>
          </a:p>
          <a:p>
            <a:pPr lvl="1" algn="just"/>
            <a:r>
              <a:rPr lang="en-GB" dirty="0"/>
              <a:t>Thus, at least one application administrations can be provisioned inside a solitary VM case, alluded to as application provisioning with regards to Cloud computing.</a:t>
            </a:r>
          </a:p>
          <a:p>
            <a:pPr algn="just"/>
            <a:endParaRPr lang="en-US" dirty="0"/>
          </a:p>
        </p:txBody>
      </p:sp>
    </p:spTree>
    <p:extLst>
      <p:ext uri="{BB962C8B-B14F-4D97-AF65-F5344CB8AC3E}">
        <p14:creationId xmlns:p14="http://schemas.microsoft.com/office/powerpoint/2010/main" val="41231206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1667" y="141668"/>
            <a:ext cx="11912957" cy="6581104"/>
          </a:xfrm>
        </p:spPr>
        <p:txBody>
          <a:bodyPr>
            <a:normAutofit fontScale="92500" lnSpcReduction="20000"/>
          </a:bodyPr>
          <a:lstStyle/>
          <a:p>
            <a:pPr algn="just"/>
            <a:r>
              <a:rPr lang="en-GB" dirty="0"/>
              <a:t>In the context of CloudSim, an entity is an instance of a component. </a:t>
            </a:r>
          </a:p>
          <a:p>
            <a:pPr algn="just"/>
            <a:r>
              <a:rPr lang="en-GB" dirty="0"/>
              <a:t>A CloudSim component can be a class (abstract or complete) or set of classes that represent one CloudSim model (data </a:t>
            </a:r>
            <a:r>
              <a:rPr lang="en-GB" dirty="0" err="1"/>
              <a:t>center</a:t>
            </a:r>
            <a:r>
              <a:rPr lang="en-GB" dirty="0"/>
              <a:t>, host etc.). </a:t>
            </a:r>
          </a:p>
          <a:p>
            <a:pPr algn="just"/>
            <a:r>
              <a:rPr lang="en-GB" dirty="0"/>
              <a:t>A data </a:t>
            </a:r>
            <a:r>
              <a:rPr lang="en-GB" dirty="0" err="1"/>
              <a:t>center</a:t>
            </a:r>
            <a:r>
              <a:rPr lang="en-GB" dirty="0"/>
              <a:t> can manage several hosts that in turn manage VMs during their life cycles. </a:t>
            </a:r>
          </a:p>
          <a:p>
            <a:pPr algn="just"/>
            <a:r>
              <a:rPr lang="en-GB" dirty="0"/>
              <a:t>Host is a CloudSim component that represents a physical computing server in a Cloud:</a:t>
            </a:r>
          </a:p>
          <a:p>
            <a:pPr lvl="1" algn="just"/>
            <a:r>
              <a:rPr lang="en-GB" dirty="0"/>
              <a:t>it is assigned a pre-configured processing capability (expressed in millions of instructions per second-MIPS), memory, storage, and a provisioning policy for allocating processing cores to VMs. </a:t>
            </a:r>
          </a:p>
          <a:p>
            <a:pPr algn="just"/>
            <a:r>
              <a:rPr lang="en-GB" dirty="0"/>
              <a:t>The Host component implements interfaces that support modelling and simulation of both single-core and multi-core nodes.</a:t>
            </a:r>
          </a:p>
          <a:p>
            <a:pPr algn="just"/>
            <a:r>
              <a:rPr lang="en-GB" dirty="0"/>
              <a:t>For each Host component, the allocation of processing cores to VMs is done based on a host allocation policy. </a:t>
            </a:r>
          </a:p>
          <a:p>
            <a:pPr algn="just"/>
            <a:r>
              <a:rPr lang="en-GB" dirty="0"/>
              <a:t>This policy takes into account several hard- ware characteristics, such as number of CPU cores, CPU share and amount of memory (physical and secondary), that are allocated to a given VM instance. </a:t>
            </a:r>
          </a:p>
          <a:p>
            <a:pPr algn="just"/>
            <a:r>
              <a:rPr lang="en-GB" dirty="0"/>
              <a:t>Hence, CloudSim supports simulation scenarios that assign specific CPU cores to specific VMs (a space-shared policy), dynamically distribute the capacity of a core among VMs (time-shared policy), or assign cores to VMs on demand.</a:t>
            </a:r>
          </a:p>
          <a:p>
            <a:pPr marL="0" indent="0" algn="just">
              <a:buNone/>
            </a:pPr>
            <a:endParaRPr lang="en-US" dirty="0"/>
          </a:p>
        </p:txBody>
      </p:sp>
    </p:spTree>
    <p:extLst>
      <p:ext uri="{BB962C8B-B14F-4D97-AF65-F5344CB8AC3E}">
        <p14:creationId xmlns:p14="http://schemas.microsoft.com/office/powerpoint/2010/main" val="30874884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399245"/>
          </a:xfrm>
        </p:spPr>
        <p:txBody>
          <a:bodyPr>
            <a:normAutofit fontScale="90000"/>
          </a:bodyPr>
          <a:lstStyle/>
          <a:p>
            <a:r>
              <a:rPr lang="en-US" dirty="0"/>
              <a:t>CloudSim Architecture</a:t>
            </a:r>
          </a:p>
        </p:txBody>
      </p:sp>
      <p:pic>
        <p:nvPicPr>
          <p:cNvPr id="4" name="Content Placeholder 3"/>
          <p:cNvPicPr>
            <a:picLocks noGrp="1" noChangeAspect="1"/>
          </p:cNvPicPr>
          <p:nvPr>
            <p:ph idx="1"/>
          </p:nvPr>
        </p:nvPicPr>
        <p:blipFill>
          <a:blip r:embed="rId2"/>
          <a:stretch>
            <a:fillRect/>
          </a:stretch>
        </p:blipFill>
        <p:spPr>
          <a:xfrm>
            <a:off x="683814" y="399245"/>
            <a:ext cx="9477618" cy="6307774"/>
          </a:xfrm>
          <a:prstGeom prst="rect">
            <a:avLst/>
          </a:prstGeom>
        </p:spPr>
      </p:pic>
    </p:spTree>
    <p:extLst>
      <p:ext uri="{BB962C8B-B14F-4D97-AF65-F5344CB8AC3E}">
        <p14:creationId xmlns:p14="http://schemas.microsoft.com/office/powerpoint/2010/main" val="37281021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1667" y="141668"/>
            <a:ext cx="11912957" cy="6581104"/>
          </a:xfrm>
        </p:spPr>
        <p:txBody>
          <a:bodyPr>
            <a:normAutofit/>
          </a:bodyPr>
          <a:lstStyle/>
          <a:p>
            <a:pPr algn="just"/>
            <a:r>
              <a:rPr lang="en-GB" dirty="0"/>
              <a:t>CloudSim runs on any Integrated Development Environment (IDE).</a:t>
            </a:r>
          </a:p>
          <a:p>
            <a:pPr algn="just"/>
            <a:r>
              <a:rPr lang="en-GB" dirty="0"/>
              <a:t>Choose your IDE such as NetBeans or Eclipse and create a new project. </a:t>
            </a:r>
          </a:p>
          <a:p>
            <a:pPr algn="just"/>
            <a:r>
              <a:rPr lang="en-GB" dirty="0"/>
              <a:t>Find a Java Runtime Environment (JRE) for running a CloudSim. </a:t>
            </a:r>
          </a:p>
          <a:p>
            <a:pPr lvl="1" algn="just"/>
            <a:r>
              <a:rPr lang="en-GB" dirty="0"/>
              <a:t>This JRE could usually be downloaded from </a:t>
            </a:r>
            <a:r>
              <a:rPr lang="en-GB" dirty="0" err="1"/>
              <a:t>Github</a:t>
            </a:r>
            <a:r>
              <a:rPr lang="en-GB" dirty="0"/>
              <a:t>. </a:t>
            </a:r>
          </a:p>
          <a:p>
            <a:pPr algn="just"/>
            <a:r>
              <a:rPr lang="en-GB" dirty="0"/>
              <a:t>Right click on the project you created and choose properties. </a:t>
            </a:r>
          </a:p>
          <a:p>
            <a:pPr algn="just"/>
            <a:r>
              <a:rPr lang="en-GB" dirty="0"/>
              <a:t>Then click on Add Library and choose to Add Jar files. </a:t>
            </a:r>
          </a:p>
          <a:p>
            <a:pPr algn="just"/>
            <a:r>
              <a:rPr lang="en-GB" dirty="0"/>
              <a:t>Then choose the CloudSim JRE. </a:t>
            </a:r>
          </a:p>
          <a:p>
            <a:pPr algn="just"/>
            <a:r>
              <a:rPr lang="en-GB" dirty="0"/>
              <a:t>Additionally you need to download JAR files for math functions from http://commons.apache.org/proper/commonsmath/download_math.cgi.</a:t>
            </a:r>
          </a:p>
          <a:p>
            <a:pPr algn="just"/>
            <a:r>
              <a:rPr lang="en-GB" dirty="0"/>
              <a:t>Finally you start running your simulation by choosing </a:t>
            </a:r>
            <a:r>
              <a:rPr lang="en-GB" dirty="0" err="1"/>
              <a:t>org.cloudbus.cloudsim.examples</a:t>
            </a:r>
            <a:r>
              <a:rPr lang="en-GB" dirty="0"/>
              <a:t>. </a:t>
            </a:r>
            <a:endParaRPr lang="en-US" dirty="0"/>
          </a:p>
        </p:txBody>
      </p:sp>
    </p:spTree>
    <p:extLst>
      <p:ext uri="{BB962C8B-B14F-4D97-AF65-F5344CB8AC3E}">
        <p14:creationId xmlns:p14="http://schemas.microsoft.com/office/powerpoint/2010/main" val="34472559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Groupe Legrand | Data Cent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9736" y="4210990"/>
            <a:ext cx="8395779" cy="264700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0" y="103031"/>
            <a:ext cx="11353800" cy="785611"/>
          </a:xfrm>
        </p:spPr>
        <p:txBody>
          <a:bodyPr>
            <a:noAutofit/>
          </a:bodyPr>
          <a:lstStyle/>
          <a:p>
            <a:r>
              <a:rPr lang="en-GB" sz="3600" dirty="0"/>
              <a:t>The basic components of CloudSim are:</a:t>
            </a:r>
            <a:br>
              <a:rPr lang="en-GB" sz="3600" dirty="0"/>
            </a:br>
            <a:endParaRPr lang="en-US" sz="3600" dirty="0"/>
          </a:p>
        </p:txBody>
      </p:sp>
      <p:sp>
        <p:nvSpPr>
          <p:cNvPr id="3" name="Content Placeholder 2"/>
          <p:cNvSpPr>
            <a:spLocks noGrp="1"/>
          </p:cNvSpPr>
          <p:nvPr>
            <p:ph idx="1"/>
          </p:nvPr>
        </p:nvSpPr>
        <p:spPr>
          <a:xfrm>
            <a:off x="128789" y="515154"/>
            <a:ext cx="11912957" cy="6207617"/>
          </a:xfrm>
        </p:spPr>
        <p:txBody>
          <a:bodyPr>
            <a:normAutofit/>
          </a:bodyPr>
          <a:lstStyle/>
          <a:p>
            <a:r>
              <a:rPr lang="en-GB" dirty="0" err="1"/>
              <a:t>Datacenter</a:t>
            </a:r>
            <a:r>
              <a:rPr lang="en-GB" dirty="0"/>
              <a:t>:</a:t>
            </a:r>
          </a:p>
          <a:p>
            <a:pPr lvl="1"/>
            <a:r>
              <a:rPr lang="en-GB" dirty="0"/>
              <a:t>Data </a:t>
            </a:r>
            <a:r>
              <a:rPr lang="en-GB" dirty="0" err="1"/>
              <a:t>center</a:t>
            </a:r>
            <a:r>
              <a:rPr lang="en-GB" dirty="0"/>
              <a:t> is used to model the core services at the system level of a </a:t>
            </a:r>
            <a:r>
              <a:rPr lang="en-GB" b="1" dirty="0">
                <a:solidFill>
                  <a:srgbClr val="FF0000"/>
                </a:solidFill>
              </a:rPr>
              <a:t>cloud infrastructure</a:t>
            </a:r>
            <a:r>
              <a:rPr lang="en-GB" dirty="0"/>
              <a:t>.</a:t>
            </a:r>
          </a:p>
          <a:p>
            <a:pPr lvl="1"/>
            <a:r>
              <a:rPr lang="en-GB" dirty="0"/>
              <a:t>It consists of a set of hosts which manage a set of virtual machines whose tasks are to handle “low level” processing, and at least one data </a:t>
            </a:r>
            <a:r>
              <a:rPr lang="en-GB" dirty="0" err="1"/>
              <a:t>center</a:t>
            </a:r>
            <a:r>
              <a:rPr lang="en-GB" dirty="0"/>
              <a:t> must be created to start the simulation.</a:t>
            </a:r>
          </a:p>
          <a:p>
            <a:pPr lvl="1"/>
            <a:r>
              <a:rPr lang="en-GB" dirty="0"/>
              <a:t>It behaves like an IaaS provider by receiving requests for VMs from brokers and creating the VMs in hosts.</a:t>
            </a:r>
          </a:p>
          <a:p>
            <a:pPr lvl="1"/>
            <a:r>
              <a:rPr lang="en-GB" dirty="0"/>
              <a:t>This class provides methods to specify the functional requirements of the </a:t>
            </a:r>
            <a:r>
              <a:rPr lang="en-GB" dirty="0" err="1"/>
              <a:t>Datacenter</a:t>
            </a:r>
            <a:r>
              <a:rPr lang="en-GB" dirty="0"/>
              <a:t> as well as methods to set the allocation policies of the VMs etc.</a:t>
            </a:r>
          </a:p>
          <a:p>
            <a:endParaRPr lang="en-US" dirty="0"/>
          </a:p>
        </p:txBody>
      </p:sp>
    </p:spTree>
    <p:extLst>
      <p:ext uri="{BB962C8B-B14F-4D97-AF65-F5344CB8AC3E}">
        <p14:creationId xmlns:p14="http://schemas.microsoft.com/office/powerpoint/2010/main" val="31537241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03031"/>
            <a:ext cx="11353800" cy="785611"/>
          </a:xfrm>
        </p:spPr>
        <p:txBody>
          <a:bodyPr>
            <a:noAutofit/>
          </a:bodyPr>
          <a:lstStyle/>
          <a:p>
            <a:r>
              <a:rPr lang="en-GB" sz="3600" dirty="0"/>
              <a:t>The basic components of CloudSim are:</a:t>
            </a:r>
            <a:br>
              <a:rPr lang="en-GB" sz="3600" dirty="0"/>
            </a:br>
            <a:endParaRPr lang="en-US" sz="3600" dirty="0"/>
          </a:p>
        </p:txBody>
      </p:sp>
      <p:sp>
        <p:nvSpPr>
          <p:cNvPr id="3" name="Content Placeholder 2"/>
          <p:cNvSpPr>
            <a:spLocks noGrp="1"/>
          </p:cNvSpPr>
          <p:nvPr>
            <p:ph idx="1"/>
          </p:nvPr>
        </p:nvSpPr>
        <p:spPr>
          <a:xfrm>
            <a:off x="128789" y="515154"/>
            <a:ext cx="11912957" cy="6207617"/>
          </a:xfrm>
        </p:spPr>
        <p:txBody>
          <a:bodyPr>
            <a:normAutofit/>
          </a:bodyPr>
          <a:lstStyle/>
          <a:p>
            <a:r>
              <a:rPr lang="en-GB" dirty="0"/>
              <a:t>Host:</a:t>
            </a:r>
          </a:p>
          <a:p>
            <a:pPr lvl="1"/>
            <a:r>
              <a:rPr lang="en-GB" dirty="0"/>
              <a:t>This component is used to assign processing capabilities (which is specified in the </a:t>
            </a:r>
            <a:r>
              <a:rPr lang="en-GB" dirty="0" err="1"/>
              <a:t>milion</a:t>
            </a:r>
            <a:r>
              <a:rPr lang="en-GB" dirty="0"/>
              <a:t> of instruction per second that the processor could perform), memory and a scheduling policy to allocate different processing cores to multiple virtual machines that is in the list of virtual machines managed by the host.</a:t>
            </a:r>
          </a:p>
          <a:p>
            <a:r>
              <a:rPr lang="en-GB" dirty="0"/>
              <a:t>Virtual Machines:</a:t>
            </a:r>
          </a:p>
          <a:p>
            <a:pPr lvl="1"/>
            <a:r>
              <a:rPr lang="en-GB" dirty="0"/>
              <a:t>This component manages the allocation of different virtual machines different hosts, so that processing cores can be scheduled (by the host) to virtual machines. This configuration depends on particular application, and the default policy of the allocation of virtual machines is “first-come, first-serve”.</a:t>
            </a:r>
          </a:p>
          <a:p>
            <a:endParaRPr lang="en-US" dirty="0"/>
          </a:p>
        </p:txBody>
      </p:sp>
    </p:spTree>
    <p:extLst>
      <p:ext uri="{BB962C8B-B14F-4D97-AF65-F5344CB8AC3E}">
        <p14:creationId xmlns:p14="http://schemas.microsoft.com/office/powerpoint/2010/main" val="19519384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4546" y="154546"/>
            <a:ext cx="11887199" cy="6542468"/>
          </a:xfrm>
        </p:spPr>
        <p:txBody>
          <a:bodyPr>
            <a:normAutofit fontScale="92500" lnSpcReduction="10000"/>
          </a:bodyPr>
          <a:lstStyle/>
          <a:p>
            <a:pPr algn="just"/>
            <a:r>
              <a:rPr lang="en-GB" dirty="0" err="1"/>
              <a:t>Datacenter</a:t>
            </a:r>
            <a:r>
              <a:rPr lang="en-GB" dirty="0"/>
              <a:t> broker:</a:t>
            </a:r>
          </a:p>
          <a:p>
            <a:pPr lvl="1" algn="just"/>
            <a:r>
              <a:rPr lang="en-GB" dirty="0"/>
              <a:t>The responsibility of a broker is to meditate between users and service providers, depending on the requirement of quality of service that the user specifies.</a:t>
            </a:r>
          </a:p>
          <a:p>
            <a:pPr lvl="1" algn="just"/>
            <a:r>
              <a:rPr lang="en-GB" dirty="0"/>
              <a:t>In other words, the broker will identify which service provider is suitable for the user based on the information it has from the Cloud Information Service, and negotiates with the providers about the resources that meet the requirement of the user. </a:t>
            </a:r>
          </a:p>
          <a:p>
            <a:pPr lvl="1" algn="just"/>
            <a:r>
              <a:rPr lang="en-GB" dirty="0"/>
              <a:t>The user of CloudSim needs to extend this class in order to specify requirement in their experiments.</a:t>
            </a:r>
          </a:p>
          <a:p>
            <a:pPr algn="just"/>
            <a:r>
              <a:rPr lang="en-GB" dirty="0"/>
              <a:t>Cloudlet:</a:t>
            </a:r>
          </a:p>
          <a:p>
            <a:pPr lvl="1" algn="just"/>
            <a:r>
              <a:rPr lang="en-GB" dirty="0"/>
              <a:t>This component represents the application service whose complexity is </a:t>
            </a:r>
            <a:r>
              <a:rPr lang="en-GB" dirty="0" err="1"/>
              <a:t>modeled</a:t>
            </a:r>
            <a:r>
              <a:rPr lang="en-GB" dirty="0"/>
              <a:t> in CloudSim in terms of the computational requirements.</a:t>
            </a:r>
          </a:p>
          <a:p>
            <a:pPr lvl="1" algn="just"/>
            <a:r>
              <a:rPr lang="en-GB" dirty="0"/>
              <a:t>A cloudlet class represents any task that is run on a VM, like a processing task, or a memory access task, or a file updating task etc. </a:t>
            </a:r>
          </a:p>
          <a:p>
            <a:pPr lvl="1" algn="just"/>
            <a:r>
              <a:rPr lang="en-GB" dirty="0"/>
              <a:t>It stores parameters defining the characteristics of a task such as its length, size, mi (million instructions) and provides methods similarly to VM class while also providing methods that define a task’s execution time, status, cost and history.</a:t>
            </a:r>
          </a:p>
          <a:p>
            <a:pPr algn="just"/>
            <a:r>
              <a:rPr lang="en-GB" dirty="0" err="1"/>
              <a:t>CloudCoordinator</a:t>
            </a:r>
            <a:r>
              <a:rPr lang="en-GB" dirty="0"/>
              <a:t>:</a:t>
            </a:r>
          </a:p>
          <a:p>
            <a:pPr lvl="1" algn="just"/>
            <a:r>
              <a:rPr lang="en-GB" dirty="0"/>
              <a:t>This component manages the communication between other </a:t>
            </a:r>
            <a:r>
              <a:rPr lang="en-GB" dirty="0" err="1"/>
              <a:t>CloudCoordinator</a:t>
            </a:r>
            <a:r>
              <a:rPr lang="en-GB" dirty="0"/>
              <a:t> services and brokers, and also monitor the internal state of a data </a:t>
            </a:r>
            <a:r>
              <a:rPr lang="en-GB" dirty="0" err="1"/>
              <a:t>center</a:t>
            </a:r>
            <a:r>
              <a:rPr lang="en-GB" dirty="0"/>
              <a:t> which will be done periodically in terms of the simulation time.</a:t>
            </a:r>
          </a:p>
          <a:p>
            <a:pPr algn="just"/>
            <a:endParaRPr lang="en-US" dirty="0"/>
          </a:p>
        </p:txBody>
      </p:sp>
    </p:spTree>
    <p:extLst>
      <p:ext uri="{BB962C8B-B14F-4D97-AF65-F5344CB8AC3E}">
        <p14:creationId xmlns:p14="http://schemas.microsoft.com/office/powerpoint/2010/main" val="1528619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8789" y="476520"/>
            <a:ext cx="11225011" cy="180304"/>
          </a:xfrm>
        </p:spPr>
        <p:txBody>
          <a:bodyPr>
            <a:normAutofit fontScale="90000"/>
          </a:bodyPr>
          <a:lstStyle/>
          <a:p>
            <a:r>
              <a:rPr lang="en-GB" dirty="0"/>
              <a:t>CloudSim Example</a:t>
            </a:r>
            <a:br>
              <a:rPr lang="en-GB" dirty="0"/>
            </a:br>
            <a:endParaRPr lang="en-US" dirty="0"/>
          </a:p>
        </p:txBody>
      </p:sp>
      <p:sp>
        <p:nvSpPr>
          <p:cNvPr id="3" name="Content Placeholder 2"/>
          <p:cNvSpPr>
            <a:spLocks noGrp="1"/>
          </p:cNvSpPr>
          <p:nvPr>
            <p:ph idx="1"/>
          </p:nvPr>
        </p:nvSpPr>
        <p:spPr>
          <a:xfrm>
            <a:off x="128789" y="656824"/>
            <a:ext cx="11912957" cy="6065948"/>
          </a:xfrm>
        </p:spPr>
        <p:txBody>
          <a:bodyPr>
            <a:normAutofit fontScale="92500" lnSpcReduction="10000"/>
          </a:bodyPr>
          <a:lstStyle/>
          <a:p>
            <a:pPr algn="just"/>
            <a:r>
              <a:rPr lang="en-GB" b="1" u="sng" dirty="0">
                <a:solidFill>
                  <a:srgbClr val="FF0000"/>
                </a:solidFill>
              </a:rPr>
              <a:t>Algorithm</a:t>
            </a:r>
            <a:r>
              <a:rPr lang="en-GB" dirty="0"/>
              <a:t> 1: To create a </a:t>
            </a:r>
            <a:r>
              <a:rPr lang="en-GB" dirty="0" err="1"/>
              <a:t>datacenter</a:t>
            </a:r>
            <a:r>
              <a:rPr lang="en-GB" dirty="0"/>
              <a:t> with one host and run Cloudlet on it</a:t>
            </a:r>
          </a:p>
          <a:p>
            <a:pPr algn="just"/>
            <a:r>
              <a:rPr lang="en-GB" b="1" u="sng" dirty="0">
                <a:solidFill>
                  <a:srgbClr val="FF0000"/>
                </a:solidFill>
              </a:rPr>
              <a:t>Inputs</a:t>
            </a:r>
            <a:r>
              <a:rPr lang="en-GB" dirty="0"/>
              <a:t>: VMs id, VM Size </a:t>
            </a:r>
          </a:p>
          <a:p>
            <a:pPr algn="just"/>
            <a:r>
              <a:rPr lang="en-GB" b="1" u="sng" dirty="0">
                <a:solidFill>
                  <a:srgbClr val="FF0000"/>
                </a:solidFill>
              </a:rPr>
              <a:t>Output</a:t>
            </a:r>
            <a:r>
              <a:rPr lang="en-GB" dirty="0"/>
              <a:t>: Cloudlet objects </a:t>
            </a:r>
          </a:p>
          <a:p>
            <a:pPr algn="just"/>
            <a:r>
              <a:rPr lang="en-GB" b="1" u="sng" dirty="0">
                <a:solidFill>
                  <a:srgbClr val="FF0000"/>
                </a:solidFill>
              </a:rPr>
              <a:t>Steps</a:t>
            </a:r>
            <a:r>
              <a:rPr lang="en-GB" dirty="0"/>
              <a:t>:</a:t>
            </a:r>
          </a:p>
          <a:p>
            <a:pPr lvl="1" algn="just"/>
            <a:r>
              <a:rPr lang="en-GB" sz="2600" dirty="0"/>
              <a:t>Step 1: Initialize the CloudSim package. It should be called before creating any entities</a:t>
            </a:r>
          </a:p>
          <a:p>
            <a:pPr lvl="1" algn="just"/>
            <a:r>
              <a:rPr lang="en-GB" sz="2600" dirty="0"/>
              <a:t>Step 2: Create </a:t>
            </a:r>
            <a:r>
              <a:rPr lang="en-GB" sz="2600" dirty="0" err="1"/>
              <a:t>Datacenters</a:t>
            </a:r>
            <a:r>
              <a:rPr lang="en-GB" sz="2600" dirty="0"/>
              <a:t> </a:t>
            </a:r>
          </a:p>
          <a:p>
            <a:pPr lvl="1" algn="just"/>
            <a:r>
              <a:rPr lang="en-GB" sz="2600" dirty="0"/>
              <a:t>Step 3: Create Broker</a:t>
            </a:r>
          </a:p>
          <a:p>
            <a:pPr lvl="1" algn="just"/>
            <a:r>
              <a:rPr lang="en-GB" sz="2600" dirty="0"/>
              <a:t>Step 4: Create one VM</a:t>
            </a:r>
          </a:p>
          <a:p>
            <a:pPr lvl="1" algn="just"/>
            <a:r>
              <a:rPr lang="en-GB" sz="2600" dirty="0"/>
              <a:t>Step 5: Add the VM to the </a:t>
            </a:r>
            <a:r>
              <a:rPr lang="en-GB" sz="2600" dirty="0" err="1"/>
              <a:t>vmList</a:t>
            </a:r>
            <a:r>
              <a:rPr lang="en-GB" sz="2600" dirty="0"/>
              <a:t> </a:t>
            </a:r>
          </a:p>
          <a:p>
            <a:pPr lvl="1" algn="just"/>
            <a:r>
              <a:rPr lang="en-GB" sz="2600" dirty="0"/>
              <a:t>Step 6: Submit VM list to the broker</a:t>
            </a:r>
          </a:p>
          <a:p>
            <a:pPr lvl="1" algn="just"/>
            <a:r>
              <a:rPr lang="en-GB" sz="2600" dirty="0"/>
              <a:t>Step 7: Create one Cloudlet with Cloudlet properties id, length, </a:t>
            </a:r>
            <a:r>
              <a:rPr lang="en-GB" sz="2600" dirty="0" err="1"/>
              <a:t>fileSize</a:t>
            </a:r>
            <a:r>
              <a:rPr lang="en-GB" sz="2600" dirty="0"/>
              <a:t> </a:t>
            </a:r>
          </a:p>
          <a:p>
            <a:pPr lvl="1" algn="just"/>
            <a:r>
              <a:rPr lang="en-GB" sz="2600" dirty="0"/>
              <a:t>Step 8: Add the Cloudlet to the list</a:t>
            </a:r>
          </a:p>
          <a:p>
            <a:pPr lvl="1" algn="just"/>
            <a:r>
              <a:rPr lang="en-GB" sz="2600" dirty="0"/>
              <a:t>Step 9: Submit Cloudlet list to the broker </a:t>
            </a:r>
          </a:p>
          <a:p>
            <a:pPr lvl="1" algn="just"/>
            <a:r>
              <a:rPr lang="en-GB" sz="2600" dirty="0"/>
              <a:t>Step 10: Start the simulation</a:t>
            </a:r>
          </a:p>
          <a:p>
            <a:pPr lvl="1" algn="just"/>
            <a:r>
              <a:rPr lang="en-GB" sz="2600" dirty="0"/>
              <a:t>Step 11: Print results when simulation is over </a:t>
            </a:r>
          </a:p>
          <a:p>
            <a:pPr lvl="1" algn="just"/>
            <a:r>
              <a:rPr lang="en-GB" sz="2600" dirty="0"/>
              <a:t>Step 12: Prints the Cloudlet objects</a:t>
            </a:r>
          </a:p>
          <a:p>
            <a:pPr algn="just"/>
            <a:endParaRPr lang="en-US" dirty="0"/>
          </a:p>
        </p:txBody>
      </p:sp>
    </p:spTree>
    <p:extLst>
      <p:ext uri="{BB962C8B-B14F-4D97-AF65-F5344CB8AC3E}">
        <p14:creationId xmlns:p14="http://schemas.microsoft.com/office/powerpoint/2010/main" val="38483805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2149</TotalTime>
  <Words>1511</Words>
  <Application>Microsoft Office PowerPoint</Application>
  <PresentationFormat>Widescreen</PresentationFormat>
  <Paragraphs>81</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Calibri Light</vt:lpstr>
      <vt:lpstr>Office Theme</vt:lpstr>
      <vt:lpstr>Chapter - 5</vt:lpstr>
      <vt:lpstr>Introduction</vt:lpstr>
      <vt:lpstr>PowerPoint Presentation</vt:lpstr>
      <vt:lpstr>PowerPoint Presentation</vt:lpstr>
      <vt:lpstr>PowerPoint Presentation</vt:lpstr>
      <vt:lpstr>PowerPoint Presentation</vt:lpstr>
      <vt:lpstr>CloudSim Architecture</vt:lpstr>
      <vt:lpstr>PowerPoint Presentation</vt:lpstr>
      <vt:lpstr>The basic components of CloudSim are: </vt:lpstr>
      <vt:lpstr>The basic components of CloudSim are: </vt:lpstr>
      <vt:lpstr>PowerPoint Presentation</vt:lpstr>
      <vt:lpstr>CloudSim Example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- 5</dc:title>
  <dc:creator>user</dc:creator>
  <cp:lastModifiedBy>Wondimagegn Leta</cp:lastModifiedBy>
  <cp:revision>21</cp:revision>
  <dcterms:created xsi:type="dcterms:W3CDTF">2022-08-31T21:33:04Z</dcterms:created>
  <dcterms:modified xsi:type="dcterms:W3CDTF">2024-11-11T21:15:45Z</dcterms:modified>
</cp:coreProperties>
</file>